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914" y="736600"/>
            <a:ext cx="3182172" cy="1168400"/>
          </a:xfrm>
          <a:prstGeom prst="rect">
            <a:avLst/>
          </a:prstGeom>
        </p:spPr>
      </p:pic>
      <p:sp>
        <p:nvSpPr>
          <p:cNvPr id="3" name="Rule 3"/>
          <p:cNvSpPr/>
          <p:nvPr/>
        </p:nvSpPr>
        <p:spPr>
          <a:xfrm>
            <a:off x="762000" y="2489200"/>
            <a:ext cx="1524000" cy="38100"/>
          </a:xfrm>
          <a:prstGeom prst="rect">
            <a:avLst/>
          </a:prstGeom>
          <a:solidFill>
            <a:srgbClr val="075A5D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2768600"/>
            <a:ext cx="1066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700" b="1" dirty="0">
                <a:solidFill>
                  <a:srgbClr val="075A5D"/>
                </a:solidFill>
                <a:latin typeface="Calibri"/>
                <a:cs typeface="Calibri"/>
              </a:rPr>
              <a:t>Cloud-Native AI-Based Log Correlation for Distributed Trace Reconstruction using Temporal and Semantic Similarity without Trace IDs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62000" y="49022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2F2F2F"/>
                </a:solidFill>
                <a:latin typeface="Calibri"/>
                <a:cs typeface="Calibri"/>
              </a:rPr>
              <a:t>Namratha Shetty   ·   L00196930</a:t>
            </a:r>
          </a:p>
          <a:p>
            <a:pPr marL="0" indent="0" algn="l">
              <a:lnSpc>
                <a:spcPct val="100000"/>
              </a:lnSpc>
              <a:spcBef>
                <a:spcPts val="420"/>
              </a:spcBef>
              <a:buNone/>
            </a:pPr>
            <a:r>
              <a:rPr lang="en-GB" sz="1300" dirty="0">
                <a:solidFill>
                  <a:srgbClr val="6B6B6B"/>
                </a:solidFill>
                <a:latin typeface="Calibri"/>
                <a:cs typeface="Calibri"/>
              </a:rPr>
              <a:t>Supervised by Dr. Saim Ghafoor</a:t>
            </a:r>
          </a:p>
          <a:p>
            <a:pPr marL="0" indent="0" algn="l">
              <a:lnSpc>
                <a:spcPct val="100000"/>
              </a:lnSpc>
              <a:spcBef>
                <a:spcPts val="260"/>
              </a:spcBef>
              <a:buNone/>
            </a:pPr>
            <a:r>
              <a:rPr lang="en-GB" sz="1200" dirty="0">
                <a:solidFill>
                  <a:srgbClr val="6B6B6B"/>
                </a:solidFill>
                <a:latin typeface="Calibri"/>
                <a:cs typeface="Calibri"/>
              </a:rPr>
              <a:t>M.Sc. in Computing in Cloud Technologies   ·   Department of Computing, ATU Donegal</a:t>
            </a:r>
          </a:p>
          <a:p>
            <a:pPr marL="0" indent="0" algn="l">
              <a:lnSpc>
                <a:spcPct val="100000"/>
              </a:lnSpc>
              <a:spcBef>
                <a:spcPts val="180"/>
              </a:spcBef>
              <a:buNone/>
            </a:pPr>
            <a:r>
              <a:rPr lang="en-GB" sz="1200" dirty="0">
                <a:solidFill>
                  <a:srgbClr val="6B6B6B"/>
                </a:solidFill>
                <a:latin typeface="Calibri"/>
                <a:cs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Motivation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19050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Cloud systems are now built as many small services, each writing its own log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Logs are the primary record of what a running system actually did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Severe outages run for hours and carry heavy operational cost (Wang and Qi, 2024)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A large share of production failures repeat earlier ones, so recognising a familiar sequence of events has direct practical value</a:t>
            </a:r>
          </a:p>
        </p:txBody>
      </p:sp>
      <p:sp>
        <p:nvSpPr>
          <p:cNvPr id="5" name="Callout 5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Faster recovery depends on rebuilding the sequence of events that led to a failure.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General Challenge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19050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Engineers rely on three signals: metrics, traces and logs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A trace follows one request across services, held together by a Trace ID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Where that identifier is present, faults can be located quickly and at fine granularity (Yu et al., 2023)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But it must be instrumented into every service, and many platforms cannot supply it</a:t>
            </a:r>
          </a:p>
        </p:txBody>
      </p:sp>
      <p:sp>
        <p:nvSpPr>
          <p:cNvPr id="5" name="Callout 5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The strongest diagnostic methods assume an identifier that many environments never record.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Problem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19050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Without a Trace ID, one request’s lines sit scattered among thousands of others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Timing-based reconstruction rebuilds traces but never reads the message text (Ashok et al., 2024)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Semantic methods read that text closely, but only to label a sequence normal or anomalous</a:t>
            </a:r>
          </a:p>
          <a:p>
            <a:pPr marL="200025" indent="-200025" algn="l">
              <a:lnSpc>
                <a:spcPct val="100000"/>
              </a:lnSpc>
              <a:spcBef>
                <a:spcPts val="1500"/>
              </a:spcBef>
              <a:buFont typeface="Arial"/>
              <a:buChar char="•"/>
            </a:pPr>
            <a:r>
              <a:rPr lang="en-GB" sz="1600" dirty="0">
                <a:solidFill>
                  <a:srgbClr val="2F2F2F"/>
                </a:solidFill>
                <a:latin typeface="Calibri"/>
                <a:cs typeface="Calibri"/>
              </a:rPr>
              <a:t>Neither returns a grouping that can be identified and followed afterwards</a:t>
            </a:r>
          </a:p>
        </p:txBody>
      </p:sp>
      <p:sp>
        <p:nvSpPr>
          <p:cNvPr id="5" name="Callout 5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6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No reviewed method groups identifier-free log lines into traces and labels them.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Solution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83" y="1219200"/>
            <a:ext cx="6978234" cy="2413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62000" y="38354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400" dirty="0">
                <a:solidFill>
                  <a:srgbClr val="2F2F2F"/>
                </a:solidFill>
                <a:latin typeface="Calibri"/>
                <a:cs typeface="Calibri"/>
              </a:rPr>
              <a:t>Use the two signals that survive in any log: when a line was written, and what it says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400" dirty="0">
                <a:solidFill>
                  <a:srgbClr val="2F2F2F"/>
                </a:solidFill>
                <a:latin typeface="Calibri"/>
                <a:cs typeface="Calibri"/>
              </a:rPr>
              <a:t>Fuse a scaled timestamp with a dimensionality-reduced message embedding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400" dirty="0">
                <a:solidFill>
                  <a:srgbClr val="2F2F2F"/>
                </a:solidFill>
                <a:latin typeface="Calibri"/>
                <a:cs typeface="Calibri"/>
              </a:rPr>
              <a:t>Group with density-based clustering, which needs no cluster count and tolerates noise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400" dirty="0">
                <a:solidFill>
                  <a:srgbClr val="2F2F2F"/>
                </a:solidFill>
                <a:latin typeface="Calibri"/>
                <a:cs typeface="Calibri"/>
              </a:rPr>
              <a:t>Give every recovered group a virtual Trace ID, restoring what was never recorded</a:t>
            </a:r>
          </a:p>
        </p:txBody>
      </p:sp>
      <p:sp>
        <p:nvSpPr>
          <p:cNvPr id="6" name="Callout 6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Semantic clustering is repurposed from detection to reconstruction.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Research Questions, Aim and Objectives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1651000"/>
            <a:ext cx="5080000" cy="431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075A5D"/>
                </a:solidFill>
                <a:latin typeface="Calibri"/>
                <a:cs typeface="Calibri"/>
              </a:rPr>
              <a:t>Aim and questions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Aim - to establish whether distributed traces can be reconstructed from raw log text alone, with no Trace ID and no instrumentation, and how far that depends on the way meaning is represented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RQ1 -  can traces be rebuilt by combining temporal proximity with semantic similarity?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RQ2 - does the choice of representation materially affect the result?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350000" y="1651000"/>
            <a:ext cx="5080000" cy="431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075A5D"/>
                </a:solidFill>
                <a:latin typeface="Calibri"/>
                <a:cs typeface="Calibri"/>
              </a:rPr>
              <a:t>Objectives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Design an unsupervised pipeline that groups log lines and assigns a virtual Trace ID to each group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Implement it twice, with Word2Vec and with BERT, holding every other stage identical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Evaluate against a known ground truth, and separate the two signals by ablation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Methodology and Implementation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487371"/>
            <a:ext cx="5969000" cy="3857859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6959600" y="1498600"/>
            <a:ext cx="45212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Two public benchmarks: HDFS (300 blocks, 5,967 lines) and TraceBench (300 traces, 17,744 events)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The true identifier is captured before cleaning and then masked, so the reconstruction is performed blind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DBSCAN over PCA-reduced embeddings fused with a weighted timestamp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One configuration block and a fixed seed govern every run</a:t>
            </a:r>
          </a:p>
        </p:txBody>
      </p:sp>
      <p:sp>
        <p:nvSpPr>
          <p:cNvPr id="6" name="Callout 6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Only the embedding stage differs, so any difference is attributable to the representation alone.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Results: Reconstruction Quality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38414"/>
            <a:ext cx="5080000" cy="222857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438414"/>
            <a:ext cx="5080000" cy="2228571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62000" y="40894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HDFS - ARI 0.2117 (Word2Vec) and 0.2199 (BERT)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 err="1">
                <a:solidFill>
                  <a:srgbClr val="2F2F2F"/>
                </a:solidFill>
                <a:latin typeface="Calibri"/>
                <a:cs typeface="Calibri"/>
              </a:rPr>
              <a:t>TraceBench</a:t>
            </a: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 - 0.1160 and 0.1125, the lighter model fractionally ahead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Word2Vec: 100 dimensions, trained in seconds on a processor. BERT: 768 dimensions, pre-trained, GPU</a:t>
            </a:r>
          </a:p>
        </p:txBody>
      </p:sp>
      <p:sp>
        <p:nvSpPr>
          <p:cNvPr id="7" name="Callout 7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8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A lightweight representation reconstructs these traces as well as a contextual one, at a fraction of the computational cost.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Results: What Drives the Reconstruction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14051"/>
            <a:ext cx="5080000" cy="267729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214051"/>
            <a:ext cx="5080000" cy="2677297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62000" y="4089400"/>
            <a:ext cx="10668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200025" indent="-200025" algn="l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Meaning alone - 0.012 (Word2Vec) and 0.002 (BERT)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Time alone - 0.208 in both pipelines</a:t>
            </a:r>
          </a:p>
          <a:p>
            <a:pPr marL="200025" indent="-200025" algn="l">
              <a:lnSpc>
                <a:spcPct val="100000"/>
              </a:lnSpc>
              <a:spcBef>
                <a:spcPts val="560"/>
              </a:spcBef>
              <a:buFont typeface="Arial"/>
              <a:buChar char="•"/>
            </a:pPr>
            <a:r>
              <a:rPr lang="en-GB" sz="1350" dirty="0">
                <a:solidFill>
                  <a:srgbClr val="2F2F2F"/>
                </a:solidFill>
                <a:latin typeface="Calibri"/>
                <a:cs typeface="Calibri"/>
              </a:rPr>
              <a:t>Combined - 0.212 and 0.223, with the radius retuned per configuration so none is disadvantaged</a:t>
            </a:r>
          </a:p>
        </p:txBody>
      </p:sp>
      <p:sp>
        <p:nvSpPr>
          <p:cNvPr id="7" name="Callout 7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8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Temporal proximity supplies almost all of the reconstruction; the balance between the signals governs the result more than the model does.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b="1" dirty="0">
                <a:solidFill>
                  <a:srgbClr val="075A5D"/>
                </a:solidFill>
                <a:latin typeface="Calibri"/>
                <a:cs typeface="Calibri"/>
              </a:rPr>
              <a:t>Conclusion</a:t>
            </a:r>
          </a:p>
        </p:txBody>
      </p:sp>
      <p:sp>
        <p:nvSpPr>
          <p:cNvPr id="3" name="Rule 3"/>
          <p:cNvSpPr/>
          <p:nvPr/>
        </p:nvSpPr>
        <p:spPr>
          <a:xfrm>
            <a:off x="762000" y="990600"/>
            <a:ext cx="10668000" cy="15240"/>
          </a:xfrm>
          <a:prstGeom prst="rect">
            <a:avLst/>
          </a:prstGeom>
          <a:solidFill>
            <a:srgbClr val="C9D6D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762000" y="1651000"/>
            <a:ext cx="5080000" cy="431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075A5D"/>
                </a:solidFill>
                <a:latin typeface="Calibri"/>
                <a:cs typeface="Calibri"/>
              </a:rPr>
              <a:t>What the work delivers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Traces reconstructed from raw logs with no identifier, measured blind against a hidden ground truth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Every recovered group carries a virtual Trace ID, in the form downstream diagnosis requires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A controlled comparison that answers the representation question with evidence rather than assumption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350000" y="1651000"/>
            <a:ext cx="5080000" cy="431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500" b="1" dirty="0">
                <a:solidFill>
                  <a:srgbClr val="075A5D"/>
                </a:solidFill>
                <a:latin typeface="Calibri"/>
                <a:cs typeface="Calibri"/>
              </a:rPr>
              <a:t>What follows from it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The temporal weight should be matched to typical trace duration — the relationship is inverse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Apply the pipeline to logs whose messages genuinely differ, where meaning has more to separate</a:t>
            </a:r>
          </a:p>
          <a:p>
            <a:pPr marL="200025" indent="-200025" algn="l">
              <a:lnSpc>
                <a:spcPct val="100000"/>
              </a:lnSpc>
              <a:spcBef>
                <a:spcPts val="760"/>
              </a:spcBef>
              <a:buFont typeface="Arial"/>
              <a:buChar char="•"/>
            </a:pPr>
            <a:r>
              <a:rPr lang="en-GB" sz="1450" dirty="0">
                <a:solidFill>
                  <a:srgbClr val="2F2F2F"/>
                </a:solidFill>
                <a:latin typeface="Calibri"/>
                <a:cs typeface="Calibri"/>
              </a:rPr>
              <a:t>Feed reconstructed traces into a root-cause method and measure whether it still localises accurately</a:t>
            </a:r>
          </a:p>
        </p:txBody>
      </p:sp>
      <p:sp>
        <p:nvSpPr>
          <p:cNvPr id="6" name="Callout 6"/>
          <p:cNvSpPr/>
          <p:nvPr/>
        </p:nvSpPr>
        <p:spPr>
          <a:xfrm>
            <a:off x="762000" y="5613400"/>
            <a:ext cx="10668000" cy="584200"/>
          </a:xfrm>
          <a:prstGeom prst="roundRect">
            <a:avLst>
              <a:gd name="adj" fmla="val 13043"/>
            </a:avLst>
          </a:prstGeom>
          <a:solidFill>
            <a:srgbClr val="EDF4F4"/>
          </a:solidFill>
          <a:ln w="12700">
            <a:solidFill>
              <a:srgbClr val="075A5D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7"/>
          <p:cNvSpPr txBox="1"/>
          <p:nvPr/>
        </p:nvSpPr>
        <p:spPr>
          <a:xfrm>
            <a:off x="1066800" y="5689600"/>
            <a:ext cx="1005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1300" b="1" dirty="0">
                <a:solidFill>
                  <a:srgbClr val="075A5D"/>
                </a:solidFill>
                <a:latin typeface="Calibri"/>
                <a:cs typeface="Calibri"/>
              </a:rPr>
              <a:t>A method that works moderately well and can explain its own behaviour.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62000" y="64516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Namratha Shetty · ATU Donegal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52000" y="64516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900" dirty="0">
                <a:solidFill>
                  <a:srgbClr val="6B6B6B"/>
                </a:solidFill>
                <a:latin typeface="Calibri"/>
                <a:cs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91C724-3396-36A5-2A09-928FB41D2358}"/>
              </a:ext>
            </a:extLst>
          </p:cNvPr>
          <p:cNvSpPr txBox="1"/>
          <p:nvPr/>
        </p:nvSpPr>
        <p:spPr>
          <a:xfrm>
            <a:off x="2584704" y="2980944"/>
            <a:ext cx="7022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7720138"/>
      </p:ext>
    </p:extLst>
  </p:cSld>
  <p:clrMapOvr>
    <a:masterClrMapping/>
  </p:clrMapOvr>
</p:sld>
</file>

<file path=ppt/theme/theme1.xml><?xml version="1.0" encoding="utf-8"?>
<a:theme xmlns:a="http://schemas.openxmlformats.org/drawingml/2006/main" name="ATU">
  <a:themeElements>
    <a:clrScheme name="AT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75A5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TU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TU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ATU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Shirly Zakkam</cp:lastModifiedBy>
  <cp:revision>1</cp:revision>
  <dcterms:modified xsi:type="dcterms:W3CDTF">2026-08-27T16:50:22Z</dcterms:modified>
</cp:coreProperties>
</file>